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2E4A"/>
                </a:solidFill>
              </a:rPr>
              <a:t>Above-Water Remote-Sensing Reflectance &amp; GIOP Inversion</a:t>
            </a:r>
          </a:p>
          <a:p>
            <a:r>
              <a:rPr sz="2000">
                <a:solidFill>
                  <a:srgbClr val="1F7A99"/>
                </a:solidFill>
              </a:rPr>
              <a:t>Selawik &amp; Hotham Inlet, Alaska  ·  2026-08-17  ·  5 stations, 71 scans</a:t>
            </a:r>
          </a:p>
          <a:p>
            <a:r>
              <a:rPr sz="1400">
                <a:solidFill>
                  <a:srgbClr val="555555"/>
                </a:solidFill>
              </a:rPr>
              <a:t>NaturaSpec Plus, FLENS8 8°  ·  overcast, choppy  ·  angle-matched sky pairing, NIR-similarity glint correction, GIOP (tmittal22/giop-workbench)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Where: Selawik River, Selawik Lake, Hotham Inlet</a:t>
            </a:r>
          </a:p>
          <a:p>
            <a:r>
              <a:rPr sz="1500">
                <a:solidFill>
                  <a:srgbClr val="555555"/>
                </a:solidFill>
              </a:rPr>
              <a:t>Stations numbered in time order  ·  LOC1-3 afternoon (overcast), LOC4-5 evening  ·  LOC1 drifted 308 m</a:t>
            </a:r>
          </a:p>
        </p:txBody>
      </p:sp>
      <p:pic>
        <p:nvPicPr>
          <p:cNvPr id="3" name="Picture 2" descr="si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97" y="1051560"/>
            <a:ext cx="1036832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Conditions: overcast and choppy</a:t>
            </a:r>
          </a:p>
          <a:p>
            <a:r>
              <a:rPr sz="1500">
                <a:solidFill>
                  <a:srgbClr val="555555"/>
                </a:solidFill>
              </a:rPr>
              <a:t>What the instrument camera saw (red dot = 8° field of view)</a:t>
            </a:r>
          </a:p>
        </p:txBody>
      </p:sp>
      <p:pic>
        <p:nvPicPr>
          <p:cNvPr id="3" name="Picture 2" descr="LOC1_0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9502"/>
            <a:ext cx="2743200" cy="2244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Overcast sky: no Rayleigh blue</a:t>
            </a:r>
          </a:p>
        </p:txBody>
      </p:sp>
      <p:pic>
        <p:nvPicPr>
          <p:cNvPr id="5" name="Picture 4" descr="LOC1_00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09502"/>
            <a:ext cx="2743200" cy="2244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LOC1 chop, whitecaps</a:t>
            </a:r>
          </a:p>
        </p:txBody>
      </p:sp>
      <p:pic>
        <p:nvPicPr>
          <p:cNvPr id="7" name="Picture 6" descr="LOC3_000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09502"/>
            <a:ext cx="2743200" cy="22444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LOC3 open-lake chop</a:t>
            </a:r>
          </a:p>
        </p:txBody>
      </p:sp>
      <p:pic>
        <p:nvPicPr>
          <p:cNvPr id="9" name="Picture 8" descr="LOC5_0006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209502"/>
            <a:ext cx="2743200" cy="22444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3520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LOC5 sunlit chop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2336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Grey cloud has blue/green ≈ 1.15 (Rayleigh sky ≈ 2) and NIR/VIS ≈ 0.57, so the shape classifier called all 19 overcast sky scans 'land'. Fixed: sky = no red edge, blue/green &gt; 1, L_t/L_ref &gt; 0.3. All 60 Aug-16 roles unchanged.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Chop: every deviant water scan at LOC1-3 tested as correctable glint, none as a different water body. NIR similarity (Ruddick et al. 2006) applied at every station.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Transmittance at LOC4 (0.21) and LOC5 (0.39) is below the clear-sky check's 0.4 floor: heavy evening cloud, not a unit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Three water types in one day</a:t>
            </a:r>
          </a:p>
          <a:p>
            <a:r>
              <a:rPr sz="1500">
                <a:solidFill>
                  <a:srgbClr val="555555"/>
                </a:solidFill>
              </a:rPr>
              <a:t>Final R_rs, all stations, glint-corrected; Aug-16 Kotzebue LOC1 for reference</a:t>
            </a:r>
          </a:p>
        </p:txBody>
      </p:sp>
      <p:pic>
        <p:nvPicPr>
          <p:cNvPr id="3" name="Picture 2" descr="aug17_final_rrs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51560"/>
            <a:ext cx="11009376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02920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• Humic (LOC1-3, Selawik): blue suppressed, maximum 580-690 nm. LOC2/LOC3 peak in the red.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• Hotham Inlet (LOC5): green peak at 565 nm, like Kotzebue on Aug 16.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• Very high sediment (LOC4): R_rs(555) 4x LOC5 and 8-9x LOC2/LOC3, strong 810 nm feature. Absolute level rests on an ASSUMED view angle.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7A99"/>
                </a:solidFill>
              </a:rPr>
              <a:t>• Shape = core-band (450-700 nm) consistency of the amplitude-normalised mean.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LOC2: Selawik village</a:t>
            </a:r>
          </a:p>
          <a:p>
            <a:r>
              <a:rPr sz="1500">
                <a:solidFill>
                  <a:srgbClr val="555555"/>
                </a:solidFill>
              </a:rPr>
              <a:t>66.60173 N 160.00094 W  ·  22 scans: 7 water, 6 sky, 9 land/bank  ·  calm, at the dock</a:t>
            </a:r>
          </a:p>
        </p:txBody>
      </p:sp>
      <p:pic>
        <p:nvPicPr>
          <p:cNvPr id="3" name="Picture 2" descr="fig12_FINAL_mean_R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7" y="1097280"/>
            <a:ext cx="4659405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6052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R_rs (arrow labels are template annotations)</a:t>
            </a:r>
          </a:p>
        </p:txBody>
      </p:sp>
      <p:pic>
        <p:nvPicPr>
          <p:cNvPr id="5" name="Picture 4" descr="giop10_final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97864"/>
            <a:ext cx="6035040" cy="2816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16052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GIOP final result (ignore the green text box: Aug-16 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R_rs(555) = 0.00264 sr⁻¹, maximum at 687 nm  ·  shape 3.9 %, amplitude 14.1 %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GIOP (free): a_dg(443) = 2.66 m⁻¹ (±36 % per scan), S_dg = 0.0084 nm⁻¹, b_bp(443) = 0.046 m⁻¹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</a:rPr>
              <a:t>• Fixed S_dg = 0.018 fails: χ²_ν 47, RMS 30 %, M_φ driven to 0. Best fit still misses by 13 % RMS; η pinned at its −1 bound.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7A99"/>
                </a:solidFill>
              </a:rPr>
              <a:t>• A 670 nm dip shows chlorophyll-a is present, but M_φ is not identifiable. Do not quote chlorophyll.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LOC3: Selawik Lake, west</a:t>
            </a:r>
          </a:p>
          <a:p>
            <a:r>
              <a:rPr sz="1500">
                <a:solidFill>
                  <a:srgbClr val="555555"/>
                </a:solidFill>
              </a:rPr>
              <a:t>66.60463 N 160.33681 W  ·  23 scans: 16 water, 7 sky  ·  open-lake chop</a:t>
            </a:r>
          </a:p>
        </p:txBody>
      </p:sp>
      <p:pic>
        <p:nvPicPr>
          <p:cNvPr id="3" name="Picture 2" descr="fig12_FINAL_mean_R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7" y="1097280"/>
            <a:ext cx="4659405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16052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R_rs (arrow labels are template annotations)</a:t>
            </a:r>
          </a:p>
        </p:txBody>
      </p:sp>
      <p:pic>
        <p:nvPicPr>
          <p:cNvPr id="5" name="Picture 4" descr="giop10_final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97864"/>
            <a:ext cx="6035040" cy="2816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416052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GIOP final result (ignore the green text box: Aug-16 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R_rs(555) = 0.00325 sr⁻¹, maximum at 649 nm  ·  shape 6.8 %, amplitude 24.3 %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GIOP: a_dg(443) = 3.3-4.0 m⁻¹ (±55 % per scan), S_dg = 0.0076-0.0078 nm⁻¹, b_bp(443) = 0.11-0.14 m⁻¹ (≈2.5x LOC2)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Freeing S_dg: RMS 35 % to 3.9 % (2.2 % max freedom). Same flat slope as LOC2, 15 km away.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</a:rPr>
              <a:t>• Per-scan R_rs(400) varies 6x; that is where ρ·L_sky error dominates and where a_dg is set. Depth not 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Selawik: CDOM-dominated, unusually flat CDOM slope</a:t>
            </a:r>
          </a:p>
          <a:p>
            <a:r>
              <a:rPr sz="1500">
                <a:solidFill>
                  <a:srgbClr val="555555"/>
                </a:solidFill>
              </a:rPr>
              <a:t>Every individual water scan, LOC2 (left) and LOC3 (right)</a:t>
            </a:r>
          </a:p>
        </p:txBody>
      </p:sp>
      <p:pic>
        <p:nvPicPr>
          <p:cNvPr id="3" name="Picture 2" descr="fig14_all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1" y="1097280"/>
            <a:ext cx="5739618" cy="3108960"/>
          </a:xfrm>
          <a:prstGeom prst="rect">
            <a:avLst/>
          </a:prstGeom>
        </p:spPr>
      </p:pic>
      <p:pic>
        <p:nvPicPr>
          <p:cNvPr id="4" name="Picture 3" descr="fig14_all_spec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031" y="1097280"/>
            <a:ext cx="5739618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3891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a_dg(443) 2.7-4.0 m⁻¹, 3-12x the Aug-16 Kotzebue stations (0.33-0.78 m⁻¹)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Fitted S_dg ≈ 0.008 nm⁻¹ at both stations vs the usual 0.014-0.020. Candidates, not separated here: humic terrestrial DOM, detrital absorption folded into a_dg, or model error absorbed by the slope.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7A99"/>
                </a:solidFill>
              </a:rPr>
              <a:t>• Fine steps near 527 and 589 nm line up with the Fe E and Na D Fraunhofer lines: probably sky/water wavelength misregistration, not water. Unverified.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LOC1: Selawik River, drifting</a:t>
            </a:r>
          </a:p>
          <a:p>
            <a:r>
              <a:rPr sz="1500">
                <a:solidFill>
                  <a:srgbClr val="555555"/>
                </a:solidFill>
              </a:rPr>
              <a:t>66.52827 N 159.85315 W  ·  13 scans: 7 water, 6 sky  ·  boat drifted 308 m in 7 min</a:t>
            </a:r>
          </a:p>
        </p:txBody>
      </p:sp>
      <p:pic>
        <p:nvPicPr>
          <p:cNvPr id="3" name="Picture 2" descr="fig12_FINAL_mean_R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83" y="1097280"/>
            <a:ext cx="494179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3434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R_rs, 6 water scans</a:t>
            </a:r>
          </a:p>
        </p:txBody>
      </p:sp>
      <p:pic>
        <p:nvPicPr>
          <p:cNvPr id="5" name="Picture 4" descr="fig14_all_spec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37285"/>
            <a:ext cx="5760720" cy="3120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3434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Every scan, 00012 shown but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1430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R_rs(555) = 0.00301 sr⁻¹, maximum at 583 nm  ·  shape 4.8 %, amplitude 13.1 %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</a:rPr>
              <a:t>• 00012 excluded: its white reference was taken on a dark target (L_ref = 0.005), giving R_rs(555) = 0.21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Usable with caveats: spread over 3 panel-reference blocks and a 308 m drift (--max-span-m 350). GIOP not triaged.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7A99"/>
                </a:solidFill>
              </a:rPr>
              <a:t>• 00004 dips negative in the 720/760/820 nm atmospheric bands: a sky/panel mismatch, the noisiest scan of the six.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LOC4: Hotham Inlet, very turbid, tilt ASSUMED</a:t>
            </a:r>
          </a:p>
          <a:p>
            <a:r>
              <a:rPr sz="1500">
                <a:solidFill>
                  <a:srgbClr val="555555"/>
                </a:solidFill>
              </a:rPr>
              <a:t>66.50898 N 161.32982 W  ·  7 scans: 4 water, 3 sky  ·  hand-held, tilt sensor logged n/a</a:t>
            </a:r>
          </a:p>
        </p:txBody>
      </p:sp>
      <p:pic>
        <p:nvPicPr>
          <p:cNvPr id="3" name="Picture 2" descr="fig12_FINAL_mean_R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83" y="1097280"/>
            <a:ext cx="494179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34340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R_rs at an assumed 40° view angle</a:t>
            </a:r>
          </a:p>
        </p:txBody>
      </p:sp>
      <p:pic>
        <p:nvPicPr>
          <p:cNvPr id="5" name="Picture 4" descr="LOC4_00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5955"/>
            <a:ext cx="2743200" cy="1543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343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00059: hand-held, brown water</a:t>
            </a:r>
          </a:p>
        </p:txBody>
      </p:sp>
      <p:pic>
        <p:nvPicPr>
          <p:cNvPr id="7" name="Picture 6" descr="fig14_all_spec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929765"/>
            <a:ext cx="2834640" cy="1535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43434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Every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11430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R_rs(555) = 0.0243 sr⁻¹  ·  shape 1.6 %, amplitude 8.6 %  ·  strong 810 nm feature = very high sediment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Derived copies with Tilt (Y) = 40° (the protocol angle) in FLENS8_FOV08_ASSUMED_TILT40/; raw files untouched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</a:rPr>
              <a:t>• Glint correction removed 0.014 sr⁻¹, 5x LOC5's offset: ρ·L_sky likely under-subtracted (arm in sky photos). Use the shape; the absolute level is tentative.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LOC5: Hotham Inlet, glint correction tested</a:t>
            </a:r>
          </a:p>
          <a:p>
            <a:r>
              <a:rPr sz="1500">
                <a:solidFill>
                  <a:srgbClr val="555555"/>
                </a:solidFill>
              </a:rPr>
              <a:t>66.56031 N 161.71074 W  ·  6 scans: 3 water, 3 sky  ·  sunlit chop, partly cloudy</a:t>
            </a:r>
          </a:p>
        </p:txBody>
      </p:sp>
      <p:pic>
        <p:nvPicPr>
          <p:cNvPr id="3" name="Picture 2" descr="fig12_FINAL_mean_R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43" y="1097280"/>
            <a:ext cx="494179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343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R_rs, glint-corrected</a:t>
            </a:r>
          </a:p>
        </p:txBody>
      </p:sp>
      <p:pic>
        <p:nvPicPr>
          <p:cNvPr id="5" name="Picture 4" descr="LOC5_gli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97330"/>
            <a:ext cx="64008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4343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Before / after NIR similarity, and the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1430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Correction is a flat −0.0027 sr⁻¹ (spectral SD 6e-5): an additive surface term. R_rs(555) 0.0086 to 0.0060.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7A99"/>
                </a:solidFill>
              </a:rPr>
              <a:t>• Kept: scan-to-scan amplitude scatter halves (33.6 % to 17.9 %), shape 2.7 % to 2.3 %.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n = 3: green peak at 565 nm, close to Kotzebue Aug 16. GIOP not triaged.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E4A"/>
                </a:solidFill>
              </a:rPr>
              <a:t>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2E4A"/>
                </a:solidFill>
              </a:rPr>
              <a:t>• Measure depth at Selawik Lake (LOC3)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A bottom contribution would move a_dg and b_bp; no photo shows the bottom, which argues against it but does not exclude it.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E4A"/>
                </a:solidFill>
              </a:rPr>
              <a:t>• Check the tilt sensor before hand-held scans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LOC4 lost its geometry entirely; its absolute R_rs depends on an assumed angle.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E4A"/>
                </a:solidFill>
              </a:rPr>
              <a:t>• Retake the white reference if the panel is not in view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LOC1 00012's reference was a dark target and the scan had to be dropped.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E4A"/>
                </a:solidFill>
              </a:rPr>
              <a:t>• Explain the flat CDOM slope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A lab a_CDOM spectrum from a Selawik water sample would separate humic DOM from detrital absorption.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2E4A"/>
                </a:solidFill>
              </a:rPr>
              <a:t>• Triage GIOP at LOC1, LOC4, LOC5; test the Fraunhofer-line hypothesis for the 527/589 nm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